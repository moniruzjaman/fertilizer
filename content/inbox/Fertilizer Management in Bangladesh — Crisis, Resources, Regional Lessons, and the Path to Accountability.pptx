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Open by framing the contradiction — warehouses are full, yet farmers can't buy fertilizer at official prices.
- Position this as a media/exec briefing covering crisis data, fiscal burden, regional lessons, and reform roadmap.
- Set expectation: 18 slides across four sections — crisis, resources, regional lessons, accountability.
- The hero image of a Bangladeshi rice paddy locates the human stakes behind the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One-line setup: three numbers capture the entire problem — abundance on paper, scarcity in the field, subsidy that misses its mark.
- The deck progresses through crisis → subsidy → resources → regional → reform.
- Frame 1.36M tonnes as paper abundance versus real-world scarcity.
- Highlight that 80% subsidy capture flows disproportionately to the top 20% of landowners.
- Use the Jashore 2× price gap as the human-cost anchor for the rest of the deck.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Transition cue — now to the present crisis.
- Three slides ahead: the paradox in numbers, regional price gaps, and official admissions of distribution failure.
- Set the stakes — this section is the empirical foundation for the reform argument that follows.
- Pause briefly on the ghost "01" to let the section open breathe before the data hits.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Cue the central paradox — nationally the cupboards are full, but at the district level, dealers are lifting less than half of what's allocated.
- 1.365M tonnes in warehouses plus 365,000t of fresh imports at Tk 2,562 cr should signal abundance.
- Reality on the ground: Gazipur 43%, Dhaka Division 45%, Mymensingh 32% — distribution is the broken link.
- This is the smoking gun for distribution failure, not supply shortage.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Emphasise this isn't a one-off in one district — it is a nationwide pattern.
- Rajshahi and Lalmonirhat show the 30–65% price premium farmers actually pay.
- Jashore is the striking case: per-kilogram sales signal informal breaking of bags at the dealer level.
- The Kurigram warehouse break-in is the canary in the coalmine — frustration is boiling over into direct action.
- Set up the next slide: this is what the government's own officials now admit.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This is the deck's accountability pivot — the government's own officials are admitting the problem is internal.
- Frame the Additional Secretary's quote as the moment the official narrative cracks.
- Three corroborating points: Secretary's warning, official acknowledgement of collusion, and the diversion mechanism.
- Use this as the bridge into reform options — the diagnosis is now on the record.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Transition cue: the crisis is not just a distribution problem — it is a fiscal one.
- The subsidy is enormous, and it reaches the wrong people.
- This chapter sets up the math, then the equity failure.
- Pace the section slowly — these are the deck's most damning numbers.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Land the scale — Tk 17,001 crore is roughly equivalent to the entire higher education budget.
- Per-kg subsidy on DAP (Tk 89) is more than double the urea subsidy (Tk 35) — explains product mix distortion.
- Tk 1,350 crore additional subsidy in 2025-26 is a direct fiscal exposure to the Middle East conflict.
- 80% figure is the World Bank's framing — bridge to next slide: this money doesn't reach the right people.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The deck's moral pivot — a subsidy that captures 80% of agriculture spending reaches the wealthiest 20% half the time.
- Top 20% landowners capture ~50% of subsidies; bottom 40% capture only ~15%.
- This is what 'regressive' looks like in numbers — pair this slide with slide 08's fiscal scale.
- Only ~5% of farmers use balanced nutrient mixes — distortion is technical as well as fiscal.
- Bridge to Chapter Three: Bangladesh already has the data tools to fix this.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Transition cue: despite the crisis, Bangladesh already has the pieces in place.
- Four assets stand out: digital land mapping, the Krishak Card, a new dealer policy, and domestic production capacity.
- This chapter reframes the deck from problem to possibility.
- Stress that these are existing assets — not aspirational.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pillars of identity (Krishak Card) and land (BDS / EDLMS) — together they make targeted, land-linked fertilizer quotas technically possible.
- Krishak Card launched April 2026; pilot covers 20,671 farmers across 10 upazilas with Tk 2,500 annual transfer.
- BDS already has 20,000+ mouza maps integrated; 138,000 more under digitization; South Korea MoU accelerating work.
- Bridge: with these data layers in place, targeting becomes a policy choice, not a technical 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Pillar 3 is a regulatory reset; Pillar 4 is a strategic supply buffer.
- The 2026 dealer policy is only as good as its enforcement — preview the accountability reform section.
- Eliminating sub-dealers collapses the distribution chain — fewer hands, fewer leakages.
- 70%+ import dependence is a fiscal and security exposure; reviving domestic plants is the strategic counter.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Two neighbours, two very different reform paths.
- India went biometric and digital — DBT in Fertilizers, nationwide since 2018.
- Vietnam went precision and sustainability — One Must, Five Reductions and the Mekong Delta program.
- Both directly instructive for Bangladesh — distribution redesign plus agronomic best practice.
- Transition cue into the two case studies that follow.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Most directly relevant model for Bangladesh.
- Key insight: “no subsidy until the sale happens” kills the diversion incentive at the source.
- Aadhaar-enabled PoS authentication reaches 8.4 crore farmers via 2.87 lakh retailers.
- 50-bags-per-month ceiling is the demand-side cap; biometric is the verification.
- India’s next step — land- and crop-based limits — previews point 02 of our framework.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Vietnam shows the second reform pathway — not just better-distributed fertilizer, but less fertilizer overall.
- One Must, Five Reductions: certified seeds plus five reductions (seed, fertilizer, pesticide, water, post-harvest loss).
- 1 Million Hectare Program in the Mekong Delta delivers 30–70 kg N saved per hectare.
- Complementary to the India model — Bangladesh needs both distribution reform and agronomic reform.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Transition cue: drawing on existing resources and regional lessons.
- Introduce the eight-point accountability framework.
- Points 1–4 plug the leaks; points 5–8 redesign the system.
- North star: World Bank’s call to rebalance agriculture spending toward high-return investments.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Walk through quickly — points 1–4 are about plugging the leaks in the existing system.
- Points 5–8 are about redesigning the system for the medium term.
- North star: World Bank’s call to “rebalance agriculture spending toward high-return investments.”
- Each card is individually actionable; together they form a coherent reform programme.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- Close by repeating the question — does Bangladesh have the resolve?
- Frame the three columns as Stakes / Pieces / Ask — the situation, the tools, the decision.
- 70%+ import dependency is the structural risk that makes reform urgent.
- Pause on “continued crisis” as the warning. Then open Q&amp;A.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428625"/>
            <a:ext cx="396599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POLICY BRIEFING /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646509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4350" y="867966"/>
            <a:ext cx="3200400" cy="14382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510"/>
              </a:lnSpc>
              <a:buNone/>
            </a:pPr>
            <a:r>
              <a:rPr lang="en-US" sz="3375" b="1" spc="-61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Fertilizer Management in Bangladesh</a:t>
            </a:r>
            <a:endParaRPr lang="en-US" sz="3375" dirty="0"/>
          </a:p>
        </p:txBody>
      </p:sp>
      <p:sp>
        <p:nvSpPr>
          <p:cNvPr id="6" name="Text 4"/>
          <p:cNvSpPr/>
          <p:nvPr/>
        </p:nvSpPr>
        <p:spPr>
          <a:xfrm>
            <a:off x="514350" y="2333662"/>
            <a:ext cx="3143250" cy="4479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3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Crisis, Resources, Regional Lessons, and the Path to Accountability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514350" y="3486150"/>
            <a:ext cx="3200400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50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Stocks pile up in warehouses. Farmers queue for hours and pay double. A subsidy meant for the poor enriches the wealthy. This briefing examines what is broken, what Bangladesh already has, and what its neighbours can teach it.</a:t>
            </a:r>
            <a:endParaRPr lang="en-US" sz="844" dirty="0"/>
          </a:p>
        </p:txBody>
      </p:sp>
      <p:sp>
        <p:nvSpPr>
          <p:cNvPr id="8" name="Text 6"/>
          <p:cNvSpPr/>
          <p:nvPr/>
        </p:nvSpPr>
        <p:spPr>
          <a:xfrm>
            <a:off x="514350" y="4329113"/>
            <a:ext cx="32004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4350" y="4446984"/>
            <a:ext cx="23021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PREPARED FOR EXECUTIVE &amp; MEDIA BRIEFING</a:t>
            </a:r>
            <a:endParaRPr lang="en-US" sz="600" dirty="0"/>
          </a:p>
        </p:txBody>
      </p:sp>
      <p:sp>
        <p:nvSpPr>
          <p:cNvPr id="10" name="Text 8"/>
          <p:cNvSpPr/>
          <p:nvPr/>
        </p:nvSpPr>
        <p:spPr>
          <a:xfrm>
            <a:off x="2625886" y="4436269"/>
            <a:ext cx="9144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79" kern="0" dirty="0">
                <a:solidFill>
                  <a:srgbClr val="D9D7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730106" y="4446984"/>
            <a:ext cx="13816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23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18</a:t>
            </a:r>
            <a:endParaRPr lang="en-US" sz="600" dirty="0"/>
          </a:p>
        </p:txBody>
      </p:sp>
      <p:sp>
        <p:nvSpPr>
          <p:cNvPr id="12" name="Text 10"/>
          <p:cNvSpPr/>
          <p:nvPr/>
        </p:nvSpPr>
        <p:spPr>
          <a:xfrm>
            <a:off x="2882406" y="4446984"/>
            <a:ext cx="48154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800" spc="7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SLIDES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301529" y="4436269"/>
            <a:ext cx="413221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79" kern="0" dirty="0">
                <a:solidFill>
                  <a:srgbClr val="D9D7D0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•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14350" y="4636294"/>
            <a:ext cx="262987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7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GOVT DATA, WORLD BANK, FIELD REPORTS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118372" y="0"/>
            <a:ext cx="0" cy="514350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pic>
        <p:nvPicPr>
          <p:cNvPr id="16" name="Image 0" descr="/tmp/h2p-fit-1790271993064-3sm04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21944" y="0"/>
            <a:ext cx="5022056" cy="514350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7583559" y="4739021"/>
            <a:ext cx="1383276" cy="216027"/>
          </a:xfrm>
          <a:prstGeom prst="rect">
            <a:avLst/>
          </a:prstGeom>
          <a:solidFill>
            <a:srgbClr val="1A1A1A">
              <a:alpha val="55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5"/>
          <p:cNvSpPr/>
          <p:nvPr/>
        </p:nvSpPr>
        <p:spPr>
          <a:xfrm>
            <a:off x="7606419" y="4750594"/>
            <a:ext cx="1337556" cy="296266"/>
          </a:xfrm>
          <a:prstGeom prst="rect">
            <a:avLst/>
          </a:prstGeom>
          <a:noFill/>
          <a:ln/>
        </p:spPr>
        <p:txBody>
          <a:bodyPr wrap="none" lIns="71438" tIns="42863" rIns="71438" bIns="42863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FAFAF7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 · RICE BELT</a:t>
            </a:r>
            <a:endParaRPr lang="en-US" sz="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EXECUTIVE OVERVIEW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17934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796528"/>
            <a:ext cx="8629650" cy="373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23"/>
              </a:lnSpc>
              <a:buNone/>
            </a:pPr>
            <a:r>
              <a:rPr lang="en-US" sz="2475" spc="-30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Stocks on paper. Shortages in the field.</a:t>
            </a:r>
            <a:endParaRPr lang="en-US" sz="2475" dirty="0"/>
          </a:p>
        </p:txBody>
      </p:sp>
      <p:sp>
        <p:nvSpPr>
          <p:cNvPr id="5" name="Text 3"/>
          <p:cNvSpPr/>
          <p:nvPr/>
        </p:nvSpPr>
        <p:spPr>
          <a:xfrm>
            <a:off x="514350" y="1270806"/>
            <a:ext cx="5429250" cy="5739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 holds over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 million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tonnes of fertilizer in warehouses and has approved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365,000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tonnes of fresh imports at 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2,562 crore</a:t>
            </a:r>
            <a:pPr algn="l" indent="0" marL="0">
              <a:lnSpc>
                <a:spcPts val="1395"/>
              </a:lnSpc>
              <a:buNone/>
            </a:pPr>
            <a:r>
              <a:rPr lang="en-US" sz="9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Yet farmers across the country are paying up to double the official price — and the subsidy that should reach them flows largely to the wealthiest landowners.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4350" y="2002259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2245147"/>
            <a:ext cx="2552663" cy="0"/>
          </a:xfrm>
          <a:prstGeom prst="line">
            <a:avLst/>
          </a:prstGeom>
          <a:noFill/>
          <a:ln w="14288">
            <a:solidFill>
              <a:srgbClr val="1A1A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14350" y="2409453"/>
            <a:ext cx="2524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STOCKS VS FIELD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2684487"/>
            <a:ext cx="2524088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47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1.36M t</a:t>
            </a:r>
            <a:endParaRPr lang="en-US" sz="3150" dirty="0"/>
          </a:p>
        </p:txBody>
      </p:sp>
      <p:sp>
        <p:nvSpPr>
          <p:cNvPr id="10" name="Text 8"/>
          <p:cNvSpPr/>
          <p:nvPr/>
        </p:nvSpPr>
        <p:spPr>
          <a:xfrm>
            <a:off x="514350" y="3213125"/>
            <a:ext cx="25240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Tonnes of fertilizer in warehouses — yet farmers in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8+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districts report being unable to buy at official prices.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3295613" y="2245147"/>
            <a:ext cx="2552663" cy="0"/>
          </a:xfrm>
          <a:prstGeom prst="line">
            <a:avLst/>
          </a:prstGeom>
          <a:noFill/>
          <a:ln w="14288">
            <a:solidFill>
              <a:srgbClr val="1A1A1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5613" y="2409453"/>
            <a:ext cx="25240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SUBSIDY CAPTURE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295613" y="2684487"/>
            <a:ext cx="2524088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47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3150" dirty="0"/>
          </a:p>
        </p:txBody>
      </p:sp>
      <p:sp>
        <p:nvSpPr>
          <p:cNvPr id="14" name="Text 12"/>
          <p:cNvSpPr/>
          <p:nvPr/>
        </p:nvSpPr>
        <p:spPr>
          <a:xfrm>
            <a:off x="3295613" y="3213125"/>
            <a:ext cx="2524088" cy="3399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public agriculture spending goes to fertilizer subsidies — but the top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20%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landowners capture roughly half.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76876" y="2245147"/>
            <a:ext cx="2552774" cy="0"/>
          </a:xfrm>
          <a:prstGeom prst="line">
            <a:avLst/>
          </a:prstGeom>
          <a:noFill/>
          <a:ln w="14288">
            <a:solidFill>
              <a:srgbClr val="1A1A1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076876" y="2409453"/>
            <a:ext cx="252419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PRICE GAP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076876" y="2684487"/>
            <a:ext cx="2524199" cy="4320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47" kern="0" dirty="0">
                <a:solidFill>
                  <a:srgbClr val="C810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2×</a:t>
            </a:r>
            <a:endParaRPr lang="en-US" sz="3150" dirty="0"/>
          </a:p>
        </p:txBody>
      </p:sp>
      <p:sp>
        <p:nvSpPr>
          <p:cNvPr id="18" name="Text 16"/>
          <p:cNvSpPr/>
          <p:nvPr/>
        </p:nvSpPr>
        <p:spPr>
          <a:xfrm>
            <a:off x="6076876" y="3213125"/>
            <a:ext cx="2524199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Farmers in Jashore pay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52/kg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for TSP — nearly double the government-fixed rate of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50kg</a:t>
            </a:r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sack.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514350" y="4138240"/>
            <a:ext cx="8115300" cy="1943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18"/>
              </a:lnSpc>
              <a:buNone/>
            </a:pPr>
            <a:r>
              <a:rPr lang="en-US" sz="1013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This briefing unpacks the crisis, the resources already in place, and the regional lessons that point to a path forward.</a:t>
            </a:r>
            <a:endParaRPr lang="en-US" sz="1013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58769" y="400050"/>
            <a:ext cx="2146971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· BRIEFING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1334095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1484114"/>
            <a:ext cx="8629650" cy="115843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563"/>
              </a:lnSpc>
              <a:buNone/>
            </a:pPr>
            <a:r>
              <a:rPr lang="en-US" sz="11250" spc="-450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1250" dirty="0"/>
          </a:p>
        </p:txBody>
      </p:sp>
      <p:sp>
        <p:nvSpPr>
          <p:cNvPr id="5" name="Text 3"/>
          <p:cNvSpPr/>
          <p:nvPr/>
        </p:nvSpPr>
        <p:spPr>
          <a:xfrm>
            <a:off x="514350" y="2669977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6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ONE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514350" y="2980730"/>
            <a:ext cx="8521065" cy="5183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65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Present Crisis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514350" y="3589288"/>
            <a:ext cx="5429250" cy="2376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33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Stocks on paper, shortages in the field — a system failing at the point of delivery.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6231917" y="4625578"/>
            <a:ext cx="27916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IN BANGLADESH / </a:t>
            </a:r>
            <a:pPr algn="l" indent="0" marL="0">
              <a:lnSpc>
                <a:spcPts val="928"/>
              </a:lnSpc>
              <a:buNone/>
            </a:pPr>
            <a:r>
              <a:rPr lang="en-US" sz="800" spc="62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PARADOX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46497"/>
            <a:ext cx="400050" cy="692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682005"/>
            <a:ext cx="8629650" cy="33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58"/>
              </a:lnSpc>
              <a:buNone/>
            </a:pPr>
            <a:r>
              <a:rPr lang="en-US" sz="2138" spc="-26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Warehouses are full. Farmers cannot buy.</a:t>
            </a:r>
            <a:endParaRPr lang="en-US" sz="2138" dirty="0"/>
          </a:p>
        </p:txBody>
      </p:sp>
      <p:sp>
        <p:nvSpPr>
          <p:cNvPr id="5" name="Text 3"/>
          <p:cNvSpPr/>
          <p:nvPr/>
        </p:nvSpPr>
        <p:spPr>
          <a:xfrm>
            <a:off x="514350" y="1094110"/>
            <a:ext cx="5857875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 data shows healthy national stocks and large fresh imports. But lift-off data — what dealers actually pull from warehouses — tells the opposite story in division after division.</a:t>
            </a:r>
            <a:endParaRPr lang="en-US" sz="844" dirty="0"/>
          </a:p>
        </p:txBody>
      </p:sp>
      <p:sp>
        <p:nvSpPr>
          <p:cNvPr id="6" name="Text 4"/>
          <p:cNvSpPr/>
          <p:nvPr/>
        </p:nvSpPr>
        <p:spPr>
          <a:xfrm>
            <a:off x="514350" y="1583457"/>
            <a:ext cx="8115300" cy="2232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14350" y="1757139"/>
            <a:ext cx="4598962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THE GOVERNMENT HAS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514350" y="2032174"/>
            <a:ext cx="475030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1.365M</a:t>
            </a:r>
            <a:endParaRPr lang="en-US" sz="2475" dirty="0"/>
          </a:p>
        </p:txBody>
      </p:sp>
      <p:sp>
        <p:nvSpPr>
          <p:cNvPr id="9" name="Text 7"/>
          <p:cNvSpPr/>
          <p:nvPr/>
        </p:nvSpPr>
        <p:spPr>
          <a:xfrm>
            <a:off x="514350" y="2417936"/>
            <a:ext cx="40080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tonnes of fertilizer in warehouses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514350" y="2724001"/>
            <a:ext cx="5047202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365,000</a:t>
            </a:r>
            <a:endParaRPr lang="en-US" sz="2475" dirty="0"/>
          </a:p>
        </p:txBody>
      </p:sp>
      <p:sp>
        <p:nvSpPr>
          <p:cNvPr id="11" name="Text 9"/>
          <p:cNvSpPr/>
          <p:nvPr/>
        </p:nvSpPr>
        <p:spPr>
          <a:xfrm>
            <a:off x="514350" y="3109764"/>
            <a:ext cx="40080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tonnes of fresh imports approved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14350" y="3415829"/>
            <a:ext cx="4349501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2,562 cr</a:t>
            </a:r>
            <a:endParaRPr lang="en-US" sz="2475" dirty="0"/>
          </a:p>
        </p:txBody>
      </p:sp>
      <p:sp>
        <p:nvSpPr>
          <p:cNvPr id="13" name="Text 11"/>
          <p:cNvSpPr/>
          <p:nvPr/>
        </p:nvSpPr>
        <p:spPr>
          <a:xfrm>
            <a:off x="514350" y="3801591"/>
            <a:ext cx="3896737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cost of those imports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568428" y="1757139"/>
            <a:ext cx="7144" cy="2789858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4918472" y="1757139"/>
            <a:ext cx="4225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WHAT DEALERS ACTUALLY LIFTED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8472" y="2032174"/>
            <a:ext cx="4225528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Gazipur</a:t>
            </a:r>
            <a:endParaRPr lang="en-US" sz="844" dirty="0"/>
          </a:p>
        </p:txBody>
      </p:sp>
      <p:sp>
        <p:nvSpPr>
          <p:cNvPr id="17" name="Text 15"/>
          <p:cNvSpPr/>
          <p:nvPr/>
        </p:nvSpPr>
        <p:spPr>
          <a:xfrm>
            <a:off x="4918472" y="2250058"/>
            <a:ext cx="422552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43%</a:t>
            </a:r>
            <a:endParaRPr lang="en-US" sz="2475" dirty="0"/>
          </a:p>
        </p:txBody>
      </p:sp>
      <p:sp>
        <p:nvSpPr>
          <p:cNvPr id="18" name="Text 16"/>
          <p:cNvSpPr/>
          <p:nvPr/>
        </p:nvSpPr>
        <p:spPr>
          <a:xfrm>
            <a:off x="4918472" y="2621533"/>
            <a:ext cx="371117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Only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800t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1,876t allocated urea distributed by Aug 20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918472" y="2927598"/>
            <a:ext cx="4008072" cy="1735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Dhaka Division (8 districts)</a:t>
            </a:r>
            <a:endParaRPr lang="en-US" sz="844" dirty="0"/>
          </a:p>
        </p:txBody>
      </p:sp>
      <p:sp>
        <p:nvSpPr>
          <p:cNvPr id="20" name="Text 18"/>
          <p:cNvSpPr/>
          <p:nvPr/>
        </p:nvSpPr>
        <p:spPr>
          <a:xfrm>
            <a:off x="4918472" y="3145482"/>
            <a:ext cx="422552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45%</a:t>
            </a:r>
            <a:endParaRPr lang="en-US" sz="2475" dirty="0"/>
          </a:p>
        </p:txBody>
      </p:sp>
      <p:sp>
        <p:nvSpPr>
          <p:cNvPr id="21" name="Text 19"/>
          <p:cNvSpPr/>
          <p:nvPr/>
        </p:nvSpPr>
        <p:spPr>
          <a:xfrm>
            <a:off x="4918472" y="3516957"/>
            <a:ext cx="40080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8,965t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lifted against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19,918t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allocated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918472" y="3823022"/>
            <a:ext cx="3896737" cy="1735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6"/>
              </a:lnSpc>
              <a:buNone/>
            </a:pPr>
            <a:r>
              <a:rPr lang="en-US" sz="844" spc="8" kern="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Mymensingh Division</a:t>
            </a:r>
            <a:endParaRPr lang="en-US" sz="844" dirty="0"/>
          </a:p>
        </p:txBody>
      </p:sp>
      <p:sp>
        <p:nvSpPr>
          <p:cNvPr id="23" name="Text 21"/>
          <p:cNvSpPr/>
          <p:nvPr/>
        </p:nvSpPr>
        <p:spPr>
          <a:xfrm>
            <a:off x="4918472" y="4040907"/>
            <a:ext cx="4225528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3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32%</a:t>
            </a:r>
            <a:endParaRPr lang="en-US" sz="2475" dirty="0"/>
          </a:p>
        </p:txBody>
      </p:sp>
      <p:sp>
        <p:nvSpPr>
          <p:cNvPr id="24" name="Text 22"/>
          <p:cNvSpPr/>
          <p:nvPr/>
        </p:nvSpPr>
        <p:spPr>
          <a:xfrm>
            <a:off x="4918472" y="4412382"/>
            <a:ext cx="4008072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9,992t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lifted against 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31,425t</a:t>
            </a:r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allocated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514350" y="4661297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Source: Ministry of Agriculture, August 2025 lift-off data.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FROM THE FIELD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75084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spc="-24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Farmers pay nearly double — and some take fertilizer by force.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1070781"/>
            <a:ext cx="6286500" cy="3664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Across four districts, the gap between the official price and the black-market price ranges from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to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65%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. In Kurigram, frustration boiled over into a warehouse break-in.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14350" y="1724434"/>
            <a:ext cx="3971925" cy="1574304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00088" y="1881597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00088" y="1995897"/>
            <a:ext cx="3600450" cy="17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Rajshahi</a:t>
            </a:r>
            <a:endParaRPr lang="en-US" sz="1238" dirty="0"/>
          </a:p>
        </p:txBody>
      </p:sp>
      <p:sp>
        <p:nvSpPr>
          <p:cNvPr id="8" name="Text 6"/>
          <p:cNvSpPr/>
          <p:nvPr/>
        </p:nvSpPr>
        <p:spPr>
          <a:xfrm>
            <a:off x="700088" y="2197261"/>
            <a:ext cx="3600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RAJSHAHI DIVISION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0088" y="2415146"/>
            <a:ext cx="360045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1,700–1,800/bag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00088" y="2709379"/>
            <a:ext cx="3710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official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/bag (TSP)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0088" y="2923691"/>
            <a:ext cx="3600450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Premium of </a:t>
            </a:r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350–450</a:t>
            </a:r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per </a:t>
            </a:r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50kg</a:t>
            </a:r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sack over the government-fixed rate.</a:t>
            </a:r>
            <a:endParaRPr lang="en-US" sz="731" dirty="0"/>
          </a:p>
        </p:txBody>
      </p:sp>
      <p:sp>
        <p:nvSpPr>
          <p:cNvPr id="12" name="Text 10"/>
          <p:cNvSpPr/>
          <p:nvPr/>
        </p:nvSpPr>
        <p:spPr>
          <a:xfrm>
            <a:off x="4657725" y="1724434"/>
            <a:ext cx="3971925" cy="1574304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843463" y="1881597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4843463" y="1995897"/>
            <a:ext cx="3600450" cy="17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Jashore</a:t>
            </a:r>
            <a:endParaRPr lang="en-US" sz="1238" dirty="0"/>
          </a:p>
        </p:txBody>
      </p:sp>
      <p:sp>
        <p:nvSpPr>
          <p:cNvPr id="15" name="Text 13"/>
          <p:cNvSpPr/>
          <p:nvPr/>
        </p:nvSpPr>
        <p:spPr>
          <a:xfrm>
            <a:off x="4843463" y="2197261"/>
            <a:ext cx="3600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KHULNA DIVISION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843463" y="2415146"/>
            <a:ext cx="360045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52/kg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843463" y="2709379"/>
            <a:ext cx="3710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official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/bag (TSP)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843463" y="2923691"/>
            <a:ext cx="3600450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Nearly double the official rate — fertilizer sold by the kilogram, not the bag.</a:t>
            </a:r>
            <a:endParaRPr lang="en-US" sz="731" dirty="0"/>
          </a:p>
        </p:txBody>
      </p:sp>
      <p:sp>
        <p:nvSpPr>
          <p:cNvPr id="19" name="Text 17"/>
          <p:cNvSpPr/>
          <p:nvPr/>
        </p:nvSpPr>
        <p:spPr>
          <a:xfrm>
            <a:off x="514350" y="3470188"/>
            <a:ext cx="3971925" cy="1574304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700088" y="3627351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00088" y="3741651"/>
            <a:ext cx="3600450" cy="17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Kurigram</a:t>
            </a:r>
            <a:endParaRPr lang="en-US" sz="1238" dirty="0"/>
          </a:p>
        </p:txBody>
      </p:sp>
      <p:sp>
        <p:nvSpPr>
          <p:cNvPr id="22" name="Text 20"/>
          <p:cNvSpPr/>
          <p:nvPr/>
        </p:nvSpPr>
        <p:spPr>
          <a:xfrm>
            <a:off x="700088" y="3943015"/>
            <a:ext cx="3600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RANGPUR DIVISION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700088" y="4160900"/>
            <a:ext cx="360045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10,000 kg urea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700088" y="4455133"/>
            <a:ext cx="371017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Seized by force — warehouse breached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700088" y="4669445"/>
            <a:ext cx="3600450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Frustrated farmers broke open a warehouse and took fertilizer by force.</a:t>
            </a:r>
            <a:endParaRPr lang="en-US" sz="731" dirty="0"/>
          </a:p>
        </p:txBody>
      </p:sp>
      <p:sp>
        <p:nvSpPr>
          <p:cNvPr id="26" name="Text 24"/>
          <p:cNvSpPr/>
          <p:nvPr/>
        </p:nvSpPr>
        <p:spPr>
          <a:xfrm>
            <a:off x="4657725" y="3470188"/>
            <a:ext cx="3971925" cy="1574304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843463" y="3627351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843463" y="3741651"/>
            <a:ext cx="3600450" cy="173932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361"/>
              </a:lnSpc>
              <a:buNone/>
            </a:pPr>
            <a:r>
              <a:rPr lang="en-US" sz="1238" b="1" spc="-1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Lalmonirhat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4843463" y="3943015"/>
            <a:ext cx="3600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99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RANGPUR DIVISION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4843463" y="4160900"/>
            <a:ext cx="3600450" cy="26680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980"/>
              </a:lnSpc>
              <a:buNone/>
            </a:pPr>
            <a:r>
              <a:rPr lang="en-US" sz="1800" spc="-18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Up to Tk 2,200/bag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4843463" y="4455133"/>
            <a:ext cx="36004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vs official 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</a:t>
            </a:r>
            <a:pPr algn="l" indent="0" marL="0">
              <a:lnSpc>
                <a:spcPts val="1013"/>
              </a:lnSpc>
              <a:buNone/>
            </a:pPr>
            <a:r>
              <a:rPr lang="en-US" sz="800" spc="27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/bag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843463" y="4669445"/>
            <a:ext cx="3600450" cy="217884"/>
          </a:xfrm>
          <a:prstGeom prst="rect">
            <a:avLst/>
          </a:prstGeom>
          <a:noFill/>
          <a:ln/>
        </p:spPr>
        <p:txBody>
          <a:bodyPr wrap="square" lIns="0" tIns="71438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731" i="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Farmers blocked a highway in protest — nearly double the official price.</a:t>
            </a:r>
            <a:endParaRPr lang="en-US" sz="731" dirty="0"/>
          </a:p>
        </p:txBody>
      </p:sp>
      <p:sp>
        <p:nvSpPr>
          <p:cNvPr id="33" name="Text 31"/>
          <p:cNvSpPr/>
          <p:nvPr/>
        </p:nvSpPr>
        <p:spPr>
          <a:xfrm>
            <a:off x="514350" y="5158792"/>
            <a:ext cx="862965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Source: Field reports, August–September 2025.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 WORD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617934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14350" y="796528"/>
            <a:ext cx="7229475" cy="2961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buNone/>
            </a:pPr>
            <a:r>
              <a:rPr lang="en-US" sz="1800" spc="-2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government says there is no crisis. Its own officials disagree.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514350" y="1270806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477975"/>
            <a:ext cx="646331" cy="756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513"/>
              </a:lnSpc>
              <a:buNone/>
            </a:pPr>
            <a:r>
              <a:rPr lang="en-US" sz="7875" spc="-315" kern="0" dirty="0">
                <a:solidFill>
                  <a:srgbClr val="C810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</a:t>
            </a:r>
            <a:endParaRPr lang="en-US" sz="7875" dirty="0"/>
          </a:p>
        </p:txBody>
      </p:sp>
      <p:sp>
        <p:nvSpPr>
          <p:cNvPr id="7" name="Text 5"/>
          <p:cNvSpPr/>
          <p:nvPr/>
        </p:nvSpPr>
        <p:spPr>
          <a:xfrm>
            <a:off x="1118332" y="1592275"/>
            <a:ext cx="6286500" cy="62493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78"/>
              </a:lnSpc>
              <a:buNone/>
            </a:pPr>
            <a:r>
              <a:rPr lang="en-US" sz="1688" i="1" spc="-8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 some cases, their negligence and collusion with dealers are creating the crisis.</a:t>
            </a:r>
            <a:endParaRPr lang="en-US" sz="1688" dirty="0"/>
          </a:p>
        </p:txBody>
      </p:sp>
      <p:sp>
        <p:nvSpPr>
          <p:cNvPr id="8" name="Text 6"/>
          <p:cNvSpPr/>
          <p:nvPr/>
        </p:nvSpPr>
        <p:spPr>
          <a:xfrm>
            <a:off x="1118332" y="2370944"/>
            <a:ext cx="80256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ADDITIONAL SECRETARY, FERTILIZER MANAGEMENT, GOVERNMENT OF BANGLADESH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14350" y="2795997"/>
            <a:ext cx="57150" cy="5715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14350" y="2938872"/>
            <a:ext cx="2552663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Agriculture Secretary warned of strict action against those creating </a:t>
            </a:r>
            <a:pPr algn="l" indent="0" marL="0">
              <a:lnSpc>
                <a:spcPts val="1177"/>
              </a:lnSpc>
              <a:buNone/>
            </a:pPr>
            <a:r>
              <a:rPr lang="en-US" sz="800" i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“artificial crises.”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295613" y="2795997"/>
            <a:ext cx="57150" cy="5715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3295613" y="2938872"/>
            <a:ext cx="2552663" cy="340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Officials acknowledged </a:t>
            </a:r>
            <a:pPr algn="l" indent="0" marL="0">
              <a:lnSpc>
                <a:spcPts val="1177"/>
              </a:lnSpc>
              <a:buNone/>
            </a:pPr>
            <a:r>
              <a:rPr lang="en-US" sz="800" i="1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“negligence and alleged collusion among some dealers and field-level officials.”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6876" y="2795997"/>
            <a:ext cx="57150" cy="57150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6876" y="2938872"/>
            <a:ext cx="2552774" cy="51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Some dealers fail to lift allocated stocks, creating artificial shortages — subsidized fertilizer is diverted to the black market.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14350" y="4836319"/>
            <a:ext cx="205258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844"/>
              </a:lnSpc>
              <a:buNone/>
            </a:pPr>
            <a:r>
              <a:rPr lang="en-US" sz="600" spc="101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ACCOUNTABILITY PIVOT · BRIEFING 06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631789"/>
            <a:ext cx="6284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46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TWO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942542"/>
            <a:ext cx="5102502" cy="10367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780"/>
              </a:lnSpc>
              <a:buNone/>
            </a:pPr>
            <a:r>
              <a:rPr lang="en-US" sz="3600" b="1" spc="-54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Subsidy</a:t>
            </a:r>
            <a:endParaRPr lang="en-US" sz="3600" dirty="0"/>
          </a:p>
          <a:p>
            <a:pPr algn="l" indent="0" marL="0">
              <a:lnSpc>
                <a:spcPts val="3780"/>
              </a:lnSpc>
              <a:buNone/>
            </a:pPr>
            <a:r>
              <a:rPr lang="en-US" sz="3600" b="1" spc="-54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Burden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514350" y="3073933"/>
            <a:ext cx="31432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fiscal tightrope — immense spending,</a:t>
            </a:r>
            <a:endParaRPr lang="en-US" sz="1238" dirty="0"/>
          </a:p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regressive outcomes.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4480903" y="1526307"/>
            <a:ext cx="4663097" cy="227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5"/>
              </a:lnSpc>
              <a:buNone/>
            </a:pPr>
            <a:r>
              <a:rPr lang="en-US" sz="20250" spc="-810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20250" dirty="0"/>
          </a:p>
        </p:txBody>
      </p:sp>
      <p:sp>
        <p:nvSpPr>
          <p:cNvPr id="7" name="Text 5"/>
          <p:cNvSpPr/>
          <p:nvPr/>
        </p:nvSpPr>
        <p:spPr>
          <a:xfrm>
            <a:off x="514350" y="4625578"/>
            <a:ext cx="561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TWO OF FOUR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47643" y="4625578"/>
            <a:ext cx="2940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IN BANGLADESH / 07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42900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FISCAL SCALE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57213"/>
            <a:ext cx="8629650" cy="3193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329"/>
              </a:lnSpc>
              <a:buNone/>
            </a:pPr>
            <a:r>
              <a:rPr lang="en-US" sz="2025" spc="-20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subsidy so large it crowds out everything else.</a:t>
            </a:r>
            <a:endParaRPr lang="en-US" sz="2025" dirty="0"/>
          </a:p>
        </p:txBody>
      </p:sp>
      <p:sp>
        <p:nvSpPr>
          <p:cNvPr id="4" name="Text 2"/>
          <p:cNvSpPr/>
          <p:nvPr/>
        </p:nvSpPr>
        <p:spPr>
          <a:xfrm>
            <a:off x="514350" y="938622"/>
            <a:ext cx="6286500" cy="3587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Bangladesh's fertilizer subsidy consumes the bulk of agricultural spending — and remains vulnerable to global shocks, with 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 crore</a:t>
            </a:r>
            <a:pPr algn="l" indent="0" marL="0">
              <a:lnSpc>
                <a:spcPts val="1308"/>
              </a:lnSpc>
              <a:buNone/>
            </a:pPr>
            <a:r>
              <a:rPr lang="en-US" sz="844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in additional subsidy required in 2025-26 due to the Middle East conflict.</a:t>
            </a:r>
            <a:endParaRPr lang="en-US" sz="844" dirty="0"/>
          </a:p>
        </p:txBody>
      </p:sp>
      <p:sp>
        <p:nvSpPr>
          <p:cNvPr id="5" name="Text 3"/>
          <p:cNvSpPr/>
          <p:nvPr/>
        </p:nvSpPr>
        <p:spPr>
          <a:xfrm>
            <a:off x="514350" y="1413681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620850"/>
            <a:ext cx="4314613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PER-KILOGRAM SUBSIDY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910172"/>
            <a:ext cx="4114800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32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89/kg</a:t>
            </a:r>
            <a:endParaRPr lang="en-US" sz="3150" dirty="0"/>
          </a:p>
        </p:txBody>
      </p:sp>
      <p:sp>
        <p:nvSpPr>
          <p:cNvPr id="8" name="Text 6"/>
          <p:cNvSpPr/>
          <p:nvPr/>
        </p:nvSpPr>
        <p:spPr>
          <a:xfrm>
            <a:off x="514350" y="2367372"/>
            <a:ext cx="3471863" cy="159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Subsidy on DAP (Diammonium Phosphate)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514350" y="2700449"/>
            <a:ext cx="3214688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14350" y="2846896"/>
            <a:ext cx="3214688" cy="4297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3150" spc="-32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35/kg</a:t>
            </a:r>
            <a:endParaRPr lang="en-US" sz="3150" dirty="0"/>
          </a:p>
        </p:txBody>
      </p:sp>
      <p:sp>
        <p:nvSpPr>
          <p:cNvPr id="11" name="Text 9"/>
          <p:cNvSpPr/>
          <p:nvPr/>
        </p:nvSpPr>
        <p:spPr>
          <a:xfrm>
            <a:off x="514350" y="3304096"/>
            <a:ext cx="3214688" cy="1294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Subsidy on urea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018359" y="1620850"/>
            <a:ext cx="0" cy="2908288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14875" y="1620850"/>
            <a:ext cx="442912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BUDGET ALLOCATIONS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714875" y="1910172"/>
            <a:ext cx="1209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25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17,001 cr</a:t>
            </a:r>
            <a:endParaRPr lang="en-US" sz="2475" dirty="0"/>
          </a:p>
        </p:txBody>
      </p:sp>
      <p:sp>
        <p:nvSpPr>
          <p:cNvPr id="15" name="Text 13"/>
          <p:cNvSpPr/>
          <p:nvPr/>
        </p:nvSpPr>
        <p:spPr>
          <a:xfrm>
            <a:off x="4714875" y="2595972"/>
            <a:ext cx="1282216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FY2026-27 agricultural subsidies budget (incl. fertilizer support)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6067388" y="1910172"/>
            <a:ext cx="12096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25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1,350 cr</a:t>
            </a:r>
            <a:endParaRPr lang="en-US" sz="2475" dirty="0"/>
          </a:p>
        </p:txBody>
      </p:sp>
      <p:sp>
        <p:nvSpPr>
          <p:cNvPr id="17" name="Text 15"/>
          <p:cNvSpPr/>
          <p:nvPr/>
        </p:nvSpPr>
        <p:spPr>
          <a:xfrm>
            <a:off x="6067388" y="2595972"/>
            <a:ext cx="1282216" cy="4773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Additional fertilizer subsidy required in 2025-26 (Middle East conflict impact)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419901" y="1910172"/>
            <a:ext cx="1724099" cy="3394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75"/>
              </a:lnSpc>
              <a:buNone/>
            </a:pPr>
            <a:r>
              <a:rPr lang="en-US" sz="2475" spc="-25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80%</a:t>
            </a:r>
            <a:endParaRPr lang="en-US" sz="2475" dirty="0"/>
          </a:p>
        </p:txBody>
      </p:sp>
      <p:sp>
        <p:nvSpPr>
          <p:cNvPr id="19" name="Text 17"/>
          <p:cNvSpPr/>
          <p:nvPr/>
        </p:nvSpPr>
        <p:spPr>
          <a:xfrm>
            <a:off x="7419901" y="2281647"/>
            <a:ext cx="1282216" cy="6364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20"/>
              </a:lnSpc>
              <a:buNone/>
            </a:pPr>
            <a:r>
              <a:rPr lang="en-US" sz="80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Of public agriculture spending channeled into fertilizer subsidies (World Bank estimate)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514350" y="4672013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Sources: Bangladesh national budget FY2026-27; World Bank agricultural public spending review.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143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WHO BENEFITS?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3094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57"/>
              </a:lnSpc>
              <a:buNone/>
            </a:pPr>
            <a:r>
              <a:rPr lang="en-US" sz="1913" spc="-19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wealthy capture the subsidy. The poor pay black-market prices.</a:t>
            </a:r>
            <a:endParaRPr lang="en-US" sz="1913" dirty="0"/>
          </a:p>
        </p:txBody>
      </p:sp>
      <p:sp>
        <p:nvSpPr>
          <p:cNvPr id="4" name="Text 2"/>
          <p:cNvSpPr/>
          <p:nvPr/>
        </p:nvSpPr>
        <p:spPr>
          <a:xfrm>
            <a:off x="514350" y="900894"/>
            <a:ext cx="628650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World Bank's assessment is unambiguous: Bangladesh's fertilizer subsidy is not just inefficient — it is regressive, distorting fertilizer use and crowding out investment in research, irrigation, and climate resilience.</a:t>
            </a:r>
            <a:endParaRPr lang="en-US" sz="816" dirty="0"/>
          </a:p>
        </p:txBody>
      </p:sp>
      <p:sp>
        <p:nvSpPr>
          <p:cNvPr id="5" name="Text 3"/>
          <p:cNvSpPr/>
          <p:nvPr/>
        </p:nvSpPr>
        <p:spPr>
          <a:xfrm>
            <a:off x="514350" y="1364791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543385"/>
            <a:ext cx="862965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SHARE OF FERTILIZER SUBSIDIES BY LANDOWNER WEALTH QUINTILE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514350" y="1793416"/>
            <a:ext cx="1500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Top 20% landowners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071688" y="1775557"/>
            <a:ext cx="5929313" cy="185738"/>
          </a:xfrm>
          <a:prstGeom prst="roundRect">
            <a:avLst>
              <a:gd name="adj" fmla="val 10256"/>
            </a:avLst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71688" y="1775557"/>
            <a:ext cx="2964656" cy="185738"/>
          </a:xfrm>
          <a:prstGeom prst="roundRect">
            <a:avLst>
              <a:gd name="adj" fmla="val 10256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7839551" y="1804132"/>
            <a:ext cx="79009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013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~50%</a:t>
            </a:r>
            <a:endParaRPr lang="en-US" sz="1013" dirty="0"/>
          </a:p>
        </p:txBody>
      </p:sp>
      <p:sp>
        <p:nvSpPr>
          <p:cNvPr id="11" name="Text 9"/>
          <p:cNvSpPr/>
          <p:nvPr/>
        </p:nvSpPr>
        <p:spPr>
          <a:xfrm>
            <a:off x="514350" y="2093454"/>
            <a:ext cx="1500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Bottom 40% landowners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071688" y="2075594"/>
            <a:ext cx="5929313" cy="185738"/>
          </a:xfrm>
          <a:prstGeom prst="roundRect">
            <a:avLst>
              <a:gd name="adj" fmla="val 10256"/>
            </a:avLst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071688" y="2075594"/>
            <a:ext cx="889397" cy="185738"/>
          </a:xfrm>
          <a:prstGeom prst="roundRect">
            <a:avLst>
              <a:gd name="adj" fmla="val 10256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7839551" y="2104169"/>
            <a:ext cx="79009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013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~15%</a:t>
            </a:r>
            <a:endParaRPr lang="en-US" sz="1013" dirty="0"/>
          </a:p>
        </p:txBody>
      </p:sp>
      <p:sp>
        <p:nvSpPr>
          <p:cNvPr id="15" name="Text 13"/>
          <p:cNvSpPr/>
          <p:nvPr/>
        </p:nvSpPr>
        <p:spPr>
          <a:xfrm>
            <a:off x="514350" y="2393491"/>
            <a:ext cx="150018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81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Rest (middle 40%)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071688" y="2375632"/>
            <a:ext cx="5929313" cy="185738"/>
          </a:xfrm>
          <a:prstGeom prst="roundRect">
            <a:avLst>
              <a:gd name="adj" fmla="val 10256"/>
            </a:avLst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071688" y="2375632"/>
            <a:ext cx="2075259" cy="185738"/>
          </a:xfrm>
          <a:prstGeom prst="roundRect">
            <a:avLst>
              <a:gd name="adj" fmla="val 10256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839551" y="2404207"/>
            <a:ext cx="790099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013"/>
              </a:lnSpc>
              <a:buNone/>
            </a:pPr>
            <a:r>
              <a:rPr lang="en-US" sz="1013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~35%</a:t>
            </a:r>
            <a:endParaRPr lang="en-US" sz="1013" dirty="0"/>
          </a:p>
        </p:txBody>
      </p:sp>
      <p:sp>
        <p:nvSpPr>
          <p:cNvPr id="19" name="Text 17"/>
          <p:cNvSpPr/>
          <p:nvPr/>
        </p:nvSpPr>
        <p:spPr>
          <a:xfrm>
            <a:off x="514350" y="2789969"/>
            <a:ext cx="21431" cy="380405"/>
          </a:xfrm>
          <a:prstGeom prst="roundRect">
            <a:avLst>
              <a:gd name="adj" fmla="val 44445"/>
            </a:avLst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650081" y="2789969"/>
            <a:ext cx="7979569" cy="2160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125" i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“Only around 5 percent of farmers apply a balanced mix of nutrients within recommended levels.”</a:t>
            </a:r>
            <a:endParaRPr lang="en-US" sz="1125" dirty="0"/>
          </a:p>
        </p:txBody>
      </p:sp>
      <p:sp>
        <p:nvSpPr>
          <p:cNvPr id="21" name="Text 19"/>
          <p:cNvSpPr/>
          <p:nvPr/>
        </p:nvSpPr>
        <p:spPr>
          <a:xfrm>
            <a:off x="650081" y="3047144"/>
            <a:ext cx="8493919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70"/>
              </a:lnSpc>
              <a:buNone/>
            </a:pPr>
            <a:r>
              <a:rPr lang="en-US" sz="800" spc="116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— WORLD BANK ASSESSMENT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14350" y="3313249"/>
            <a:ext cx="81153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Source: World Bank public spending review, Bangladesh agriculture.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400050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14350" y="1436675"/>
            <a:ext cx="6284484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46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THREE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14350" y="1747428"/>
            <a:ext cx="5102502" cy="145818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544"/>
              </a:lnSpc>
              <a:buNone/>
            </a:pPr>
            <a:r>
              <a:rPr lang="en-US" sz="3375" b="1" spc="-51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Resources</a:t>
            </a:r>
            <a:endParaRPr lang="en-US" sz="3375" dirty="0"/>
          </a:p>
          <a:p>
            <a:pPr algn="l" indent="0" marL="0">
              <a:lnSpc>
                <a:spcPts val="3544"/>
              </a:lnSpc>
              <a:buNone/>
            </a:pPr>
            <a:r>
              <a:rPr lang="en-US" sz="3375" b="1" spc="-51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Bangladesh</a:t>
            </a:r>
            <a:endParaRPr lang="en-US" sz="3375" dirty="0"/>
          </a:p>
          <a:p>
            <a:pPr algn="l" indent="0" marL="0">
              <a:lnSpc>
                <a:spcPts val="3544"/>
              </a:lnSpc>
              <a:buNone/>
            </a:pPr>
            <a:r>
              <a:rPr lang="en-US" sz="3375" b="1" spc="-51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Already Has</a:t>
            </a:r>
            <a:endParaRPr lang="en-US" sz="3375" dirty="0"/>
          </a:p>
        </p:txBody>
      </p:sp>
      <p:sp>
        <p:nvSpPr>
          <p:cNvPr id="5" name="Text 3"/>
          <p:cNvSpPr/>
          <p:nvPr/>
        </p:nvSpPr>
        <p:spPr>
          <a:xfrm>
            <a:off x="514350" y="3269047"/>
            <a:ext cx="3143250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Four assets already in motion —</a:t>
            </a:r>
            <a:endParaRPr lang="en-US" sz="1238" dirty="0"/>
          </a:p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building blocks of reform.</a:t>
            </a:r>
            <a:endParaRPr lang="en-US" sz="1238" dirty="0"/>
          </a:p>
        </p:txBody>
      </p:sp>
      <p:sp>
        <p:nvSpPr>
          <p:cNvPr id="6" name="Text 4"/>
          <p:cNvSpPr/>
          <p:nvPr/>
        </p:nvSpPr>
        <p:spPr>
          <a:xfrm>
            <a:off x="4480903" y="1526307"/>
            <a:ext cx="4663097" cy="2277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605"/>
              </a:lnSpc>
              <a:buNone/>
            </a:pPr>
            <a:r>
              <a:rPr lang="en-US" sz="20250" spc="-810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20250" dirty="0"/>
          </a:p>
        </p:txBody>
      </p:sp>
      <p:sp>
        <p:nvSpPr>
          <p:cNvPr id="7" name="Text 5"/>
          <p:cNvSpPr/>
          <p:nvPr/>
        </p:nvSpPr>
        <p:spPr>
          <a:xfrm>
            <a:off x="514350" y="4625578"/>
            <a:ext cx="56190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THREE OF FOUR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6147643" y="4625578"/>
            <a:ext cx="2940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IN BANGLADESH /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143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IDENTITY + GEOSPATIAL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spc="-18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Digital land mapping and farmer identity — the data foundations.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4350" y="884039"/>
            <a:ext cx="657225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Two flagship initiatives already underway give Bangladesh the data backbone it needs to target fertilizer subsidies accurately — verified land parcels and a verified farmer identity layer.</a:t>
            </a:r>
            <a:endParaRPr lang="en-US" sz="816" dirty="0"/>
          </a:p>
        </p:txBody>
      </p:sp>
      <p:sp>
        <p:nvSpPr>
          <p:cNvPr id="5" name="Text 3"/>
          <p:cNvSpPr/>
          <p:nvPr/>
        </p:nvSpPr>
        <p:spPr>
          <a:xfrm>
            <a:off x="514350" y="1319361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497955"/>
            <a:ext cx="3957638" cy="3331220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14350" y="1508671"/>
            <a:ext cx="3957638" cy="0"/>
          </a:xfrm>
          <a:prstGeom prst="line">
            <a:avLst/>
          </a:prstGeom>
          <a:noFill/>
          <a:ln w="21431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676549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685800" y="1901577"/>
            <a:ext cx="3614738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13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Digital Land Mapping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2155850"/>
            <a:ext cx="3614738" cy="318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 Digital Survey (BDS) + Establishment of Digital Land Management System (EDLMS)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85800" y="2510805"/>
            <a:ext cx="3614738" cy="85026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Modernising land records with digital mapping. Over 20,000 mouza maps already integrated, with 138,000 more under digitization. By 2026, BDS aims for a fully digital, secure, citizen-friendly land management system. A Memorandum of Understanding with South Korea, signed in September 2025, is accelerating the work.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685800" y="4267163"/>
            <a:ext cx="3614738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4385035"/>
            <a:ext cx="156085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20,000+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685800" y="4585060"/>
            <a:ext cx="1395929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Mouza maps integrated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19213" y="4385035"/>
            <a:ext cx="1561008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138,000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1919213" y="4585060"/>
            <a:ext cx="1396065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Under digitization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2738" y="4385035"/>
            <a:ext cx="114780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3152738" y="4585060"/>
            <a:ext cx="1147800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Target go-live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2013" y="1497955"/>
            <a:ext cx="3957638" cy="3331220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82728" y="1497955"/>
            <a:ext cx="0" cy="3331220"/>
          </a:xfrm>
          <a:prstGeom prst="line">
            <a:avLst/>
          </a:prstGeom>
          <a:noFill/>
          <a:ln w="21431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894" y="1655118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64894" y="1880146"/>
            <a:ext cx="3593306" cy="2128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13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Krishak (Farmer) Card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64894" y="2134419"/>
            <a:ext cx="3593306" cy="159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Launched April 2026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64894" y="2354759"/>
            <a:ext cx="3593306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 digital identity layer storing around 120 types of farmer information. Initially 20,671 landless, marginal, and small farmers in 10 upazilas receive Tk 2,500 annually via mobile financial services — with plans to make the cards usable as debit cards. This is the authentication key for fertilizer purchases.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64894" y="4267163"/>
            <a:ext cx="3593306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64894" y="4385035"/>
            <a:ext cx="182487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120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864894" y="4585060"/>
            <a:ext cx="1305121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Data fields per farmer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91163" y="4385035"/>
            <a:ext cx="1551292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20,671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6091163" y="4585060"/>
            <a:ext cx="1387376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Farmers in pilot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7544" y="4385035"/>
            <a:ext cx="114065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10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7317544" y="4585060"/>
            <a:ext cx="1140656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Upazilas covered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14350" y="314325"/>
            <a:ext cx="862965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35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REGULATION + SUPPLY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14350" y="528638"/>
            <a:ext cx="8629650" cy="2912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sz="1800" spc="-18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new dealer framework — and untapped domestic capacity.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14350" y="884039"/>
            <a:ext cx="6572250" cy="3467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4"/>
              </a:lnSpc>
              <a:buNone/>
            </a:pPr>
            <a:r>
              <a:rPr lang="en-US" sz="816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remaining two assets are regulatory and industrial: a 2026 policy that restructures dealer appointments, and state-owned production capacity that — if revived — could cut import dependence.</a:t>
            </a:r>
            <a:endParaRPr lang="en-US" sz="816" dirty="0"/>
          </a:p>
        </p:txBody>
      </p:sp>
      <p:sp>
        <p:nvSpPr>
          <p:cNvPr id="5" name="Text 3"/>
          <p:cNvSpPr/>
          <p:nvPr/>
        </p:nvSpPr>
        <p:spPr>
          <a:xfrm>
            <a:off x="514350" y="1319361"/>
            <a:ext cx="81153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514350" y="1497955"/>
            <a:ext cx="3957638" cy="3331220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525066" y="1497955"/>
            <a:ext cx="0" cy="3331220"/>
          </a:xfrm>
          <a:prstGeom prst="line">
            <a:avLst/>
          </a:prstGeom>
          <a:noFill/>
          <a:ln w="21431">
            <a:solidFill>
              <a:srgbClr val="C8102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07231" y="1655118"/>
            <a:ext cx="3593306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03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07231" y="1880146"/>
            <a:ext cx="3703034" cy="21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13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 Fertilizer Distribution Policy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707231" y="2134419"/>
            <a:ext cx="3703034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Replaces the 2009 framework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707231" y="2354759"/>
            <a:ext cx="3593306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Comprehensive Policy on Fertilizer Dealer Appointment and Distribution 2026 appoints one additional dealer in every union, alongside existing dealers. Critically, it eliminates sub-dealers and retailers — collapsing the distribution chain. A regulatory framework for reform, though enforcement remains the open question.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707231" y="4267163"/>
            <a:ext cx="3593306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07231" y="4385035"/>
            <a:ext cx="182487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+1</a:t>
            </a:r>
            <a:endParaRPr lang="en-US" sz="1238" dirty="0"/>
          </a:p>
        </p:txBody>
      </p:sp>
      <p:sp>
        <p:nvSpPr>
          <p:cNvPr id="14" name="Text 12"/>
          <p:cNvSpPr/>
          <p:nvPr/>
        </p:nvSpPr>
        <p:spPr>
          <a:xfrm>
            <a:off x="707231" y="4585060"/>
            <a:ext cx="1387241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Dealer per union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33501" y="4385035"/>
            <a:ext cx="182505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</a:t>
            </a:r>
            <a:endParaRPr lang="en-US" sz="1238" dirty="0"/>
          </a:p>
        </p:txBody>
      </p:sp>
      <p:sp>
        <p:nvSpPr>
          <p:cNvPr id="16" name="Text 14"/>
          <p:cNvSpPr/>
          <p:nvPr/>
        </p:nvSpPr>
        <p:spPr>
          <a:xfrm>
            <a:off x="1933501" y="4585060"/>
            <a:ext cx="1387376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Sub-dealers retained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159882" y="4385035"/>
            <a:ext cx="1140656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2026</a:t>
            </a:r>
            <a:endParaRPr lang="en-US" sz="1238" dirty="0"/>
          </a:p>
        </p:txBody>
      </p:sp>
      <p:sp>
        <p:nvSpPr>
          <p:cNvPr id="18" name="Text 16"/>
          <p:cNvSpPr/>
          <p:nvPr/>
        </p:nvSpPr>
        <p:spPr>
          <a:xfrm>
            <a:off x="3159882" y="4585060"/>
            <a:ext cx="1140656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Policy year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4672013" y="1497955"/>
            <a:ext cx="3957638" cy="3331220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4672013" y="1508671"/>
            <a:ext cx="3957638" cy="0"/>
          </a:xfrm>
          <a:prstGeom prst="line">
            <a:avLst/>
          </a:prstGeom>
          <a:noFill/>
          <a:ln w="21431">
            <a:solidFill>
              <a:srgbClr val="C8102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3463" y="1676549"/>
            <a:ext cx="3614738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spc="132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PILLAR 04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843463" y="1901577"/>
            <a:ext cx="3724466" cy="21289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53"/>
              </a:lnSpc>
              <a:buNone/>
            </a:pPr>
            <a:r>
              <a:rPr lang="en-US" sz="1350" b="1" spc="-13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Domestic Production Capacity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4843463" y="2155850"/>
            <a:ext cx="3724465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2D2D2D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State-owned plants — underutilised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4843463" y="2376190"/>
            <a:ext cx="3614738" cy="6802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7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Bangladesh operates state-owned fertilizer plants, though most run below capacity. More than 70% of annual demand is met through imports, leaving the country exposed to global price shocks and supply disruptions. Reviving domestic production is a strategic buffer.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843463" y="4267163"/>
            <a:ext cx="3614738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3463" y="4385035"/>
            <a:ext cx="1836301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70%+</a:t>
            </a:r>
            <a:endParaRPr lang="en-US" sz="1238" dirty="0"/>
          </a:p>
        </p:txBody>
      </p:sp>
      <p:sp>
        <p:nvSpPr>
          <p:cNvPr id="27" name="Text 25"/>
          <p:cNvSpPr/>
          <p:nvPr/>
        </p:nvSpPr>
        <p:spPr>
          <a:xfrm>
            <a:off x="4843463" y="4585060"/>
            <a:ext cx="1395929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Demand met by imports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76876" y="4385035"/>
            <a:ext cx="1813524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&lt;30%</a:t>
            </a:r>
            <a:endParaRPr lang="en-US" sz="1238" dirty="0"/>
          </a:p>
        </p:txBody>
      </p:sp>
      <p:sp>
        <p:nvSpPr>
          <p:cNvPr id="29" name="Text 27"/>
          <p:cNvSpPr/>
          <p:nvPr/>
        </p:nvSpPr>
        <p:spPr>
          <a:xfrm>
            <a:off x="6076876" y="4585060"/>
            <a:ext cx="1396065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Domestic share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310400" y="4385035"/>
            <a:ext cx="1147800" cy="1697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38"/>
              </a:lnSpc>
              <a:buNone/>
            </a:pPr>
            <a:r>
              <a:rPr lang="en-US" sz="1238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Tk 2,562 cr</a:t>
            </a:r>
            <a:endParaRPr lang="en-US" sz="1238" dirty="0"/>
          </a:p>
        </p:txBody>
      </p:sp>
      <p:sp>
        <p:nvSpPr>
          <p:cNvPr id="31" name="Text 29"/>
          <p:cNvSpPr/>
          <p:nvPr/>
        </p:nvSpPr>
        <p:spPr>
          <a:xfrm>
            <a:off x="7310400" y="4585060"/>
            <a:ext cx="1147800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Latest import cost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734467"/>
            <a:ext cx="8572500" cy="15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spc="-495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2375" dirty="0"/>
          </a:p>
        </p:txBody>
      </p:sp>
      <p:sp>
        <p:nvSpPr>
          <p:cNvPr id="4" name="Text 2"/>
          <p:cNvSpPr/>
          <p:nvPr/>
        </p:nvSpPr>
        <p:spPr>
          <a:xfrm>
            <a:off x="571500" y="2406104"/>
            <a:ext cx="8572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FOUR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2634704"/>
            <a:ext cx="7072313" cy="9998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45"/>
              </a:lnSpc>
              <a:buNone/>
            </a:pPr>
            <a:r>
              <a:rPr lang="en-US" sz="3375" b="1" spc="-67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Lessons from Neighboring Countries</a:t>
            </a:r>
            <a:endParaRPr lang="en-US" sz="3375" dirty="0"/>
          </a:p>
        </p:txBody>
      </p:sp>
      <p:sp>
        <p:nvSpPr>
          <p:cNvPr id="6" name="Text 4"/>
          <p:cNvSpPr/>
          <p:nvPr/>
        </p:nvSpPr>
        <p:spPr>
          <a:xfrm>
            <a:off x="571500" y="3746227"/>
            <a:ext cx="5857875" cy="4920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India proves biometric distribution can work at scale. Vietnam proves less fertilizer can be more.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6090493" y="4825603"/>
            <a:ext cx="2940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A9A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IN BANGLADESH / 13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3" name="Image 0" descr="/tmp/h2p-fit-1790272000203-ww1dg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3657600" cy="51435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797028"/>
            <a:ext cx="3657600" cy="346472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0" y="4797028"/>
            <a:ext cx="3657600" cy="346472"/>
          </a:xfrm>
          <a:prstGeom prst="rect">
            <a:avLst/>
          </a:prstGeom>
          <a:noFill/>
          <a:ln/>
        </p:spPr>
        <p:txBody>
          <a:bodyPr wrap="none" lIns="171450" tIns="100013" rIns="171450" bIns="128588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INDIA / FERTILIZER RETAIL</a:t>
            </a:r>
            <a:endParaRPr lang="en-US" sz="800" dirty="0"/>
          </a:p>
        </p:txBody>
      </p:sp>
      <p:sp>
        <p:nvSpPr>
          <p:cNvPr id="6" name="Text 2"/>
          <p:cNvSpPr/>
          <p:nvPr/>
        </p:nvSpPr>
        <p:spPr>
          <a:xfrm>
            <a:off x="3657600" y="0"/>
            <a:ext cx="54864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3"/>
          <p:cNvSpPr/>
          <p:nvPr/>
        </p:nvSpPr>
        <p:spPr>
          <a:xfrm>
            <a:off x="4029075" y="400050"/>
            <a:ext cx="47148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CASE STUDY 01 / INDIA</a:t>
            </a:r>
            <a:endParaRPr lang="en-US" sz="800" dirty="0"/>
          </a:p>
        </p:txBody>
      </p:sp>
      <p:sp>
        <p:nvSpPr>
          <p:cNvPr id="8" name="Text 4"/>
          <p:cNvSpPr/>
          <p:nvPr/>
        </p:nvSpPr>
        <p:spPr>
          <a:xfrm>
            <a:off x="4029075" y="617934"/>
            <a:ext cx="4714875" cy="5460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Direct Benefit Transfer — subsidies only after the sale.</a:t>
            </a:r>
            <a:endParaRPr lang="en-US" sz="1688" dirty="0"/>
          </a:p>
        </p:txBody>
      </p:sp>
      <p:sp>
        <p:nvSpPr>
          <p:cNvPr id="9" name="Text 5"/>
          <p:cNvSpPr/>
          <p:nvPr/>
        </p:nvSpPr>
        <p:spPr>
          <a:xfrm>
            <a:off x="4029075" y="1237878"/>
            <a:ext cx="4714875" cy="5099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India’s DBT in Fertilizers system, implemented nationwide since 2018, releases subsidies to fertilizer companies only after actual sales to farmers. Authentication happens through Aadhaar-enabled Point of Sale devices at retail shops.</a:t>
            </a:r>
            <a:endParaRPr lang="en-US" sz="800" dirty="0"/>
          </a:p>
        </p:txBody>
      </p:sp>
      <p:sp>
        <p:nvSpPr>
          <p:cNvPr id="10" name="Text 6"/>
          <p:cNvSpPr/>
          <p:nvPr/>
        </p:nvSpPr>
        <p:spPr>
          <a:xfrm>
            <a:off x="4029075" y="1831256"/>
            <a:ext cx="4714875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7"/>
          <p:cNvSpPr/>
          <p:nvPr/>
        </p:nvSpPr>
        <p:spPr>
          <a:xfrm>
            <a:off x="4029075" y="2002706"/>
            <a:ext cx="42863" cy="42863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8"/>
          <p:cNvSpPr/>
          <p:nvPr/>
        </p:nvSpPr>
        <p:spPr>
          <a:xfrm>
            <a:off x="4157663" y="1952699"/>
            <a:ext cx="458628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Subsidies released to companies only after actual sales to farmers.</a:t>
            </a:r>
            <a:endParaRPr lang="en-US" sz="800" dirty="0"/>
          </a:p>
        </p:txBody>
      </p:sp>
      <p:sp>
        <p:nvSpPr>
          <p:cNvPr id="13" name="Text 9"/>
          <p:cNvSpPr/>
          <p:nvPr/>
        </p:nvSpPr>
        <p:spPr>
          <a:xfrm>
            <a:off x="4029075" y="2208758"/>
            <a:ext cx="42863" cy="42863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0"/>
          <p:cNvSpPr/>
          <p:nvPr/>
        </p:nvSpPr>
        <p:spPr>
          <a:xfrm>
            <a:off x="4157663" y="2158752"/>
            <a:ext cx="458628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Farmers authenticate via Aadhaar-enabled PoS devices at retail shops.</a:t>
            </a:r>
            <a:endParaRPr lang="en-US" sz="800" dirty="0"/>
          </a:p>
        </p:txBody>
      </p:sp>
      <p:sp>
        <p:nvSpPr>
          <p:cNvPr id="15" name="Text 11"/>
          <p:cNvSpPr/>
          <p:nvPr/>
        </p:nvSpPr>
        <p:spPr>
          <a:xfrm>
            <a:off x="4029075" y="2414811"/>
            <a:ext cx="42863" cy="42863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2"/>
          <p:cNvSpPr/>
          <p:nvPr/>
        </p:nvSpPr>
        <p:spPr>
          <a:xfrm>
            <a:off x="4157663" y="2364804"/>
            <a:ext cx="458628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Weekly subsidy claims generated based on actual sales.</a:t>
            </a:r>
            <a:endParaRPr lang="en-US" sz="800" dirty="0"/>
          </a:p>
        </p:txBody>
      </p:sp>
      <p:sp>
        <p:nvSpPr>
          <p:cNvPr id="17" name="Text 13"/>
          <p:cNvSpPr/>
          <p:nvPr/>
        </p:nvSpPr>
        <p:spPr>
          <a:xfrm>
            <a:off x="4029075" y="2620863"/>
            <a:ext cx="42863" cy="42863"/>
          </a:xfrm>
          <a:prstGeom prst="ellipse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4"/>
          <p:cNvSpPr/>
          <p:nvPr/>
        </p:nvSpPr>
        <p:spPr>
          <a:xfrm>
            <a:off x="4157663" y="2570857"/>
            <a:ext cx="4586288" cy="1590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60"/>
              </a:lnSpc>
              <a:buNone/>
            </a:pPr>
            <a:r>
              <a:rPr lang="en-US" sz="731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Operates on a “no denial” basis — all eligible farmers receive subsidized fertilizer.</a:t>
            </a:r>
            <a:endParaRPr lang="en-US" sz="731" dirty="0"/>
          </a:p>
        </p:txBody>
      </p:sp>
      <p:sp>
        <p:nvSpPr>
          <p:cNvPr id="19" name="Shape 15"/>
          <p:cNvSpPr/>
          <p:nvPr/>
        </p:nvSpPr>
        <p:spPr>
          <a:xfrm>
            <a:off x="4029075" y="2837631"/>
            <a:ext cx="4714875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029075" y="2969791"/>
            <a:ext cx="1938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2.87 lakh</a:t>
            </a:r>
            <a:endParaRPr lang="en-US" sz="1575" dirty="0"/>
          </a:p>
        </p:txBody>
      </p:sp>
      <p:sp>
        <p:nvSpPr>
          <p:cNvPr id="21" name="Text 17"/>
          <p:cNvSpPr/>
          <p:nvPr/>
        </p:nvSpPr>
        <p:spPr>
          <a:xfrm>
            <a:off x="4029075" y="3198391"/>
            <a:ext cx="2005615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RETAILERS</a:t>
            </a:r>
            <a:endParaRPr lang="en-US" sz="800" dirty="0"/>
          </a:p>
        </p:txBody>
      </p:sp>
      <p:sp>
        <p:nvSpPr>
          <p:cNvPr id="22" name="Text 18"/>
          <p:cNvSpPr/>
          <p:nvPr/>
        </p:nvSpPr>
        <p:spPr>
          <a:xfrm>
            <a:off x="5629275" y="2969791"/>
            <a:ext cx="1938528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8.4 crore</a:t>
            </a:r>
            <a:endParaRPr lang="en-US" sz="1575" dirty="0"/>
          </a:p>
        </p:txBody>
      </p:sp>
      <p:sp>
        <p:nvSpPr>
          <p:cNvPr id="23" name="Text 19"/>
          <p:cNvSpPr/>
          <p:nvPr/>
        </p:nvSpPr>
        <p:spPr>
          <a:xfrm>
            <a:off x="5629275" y="3198391"/>
            <a:ext cx="1842051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FARMERS SERVED</a:t>
            </a:r>
            <a:endParaRPr lang="en-US" sz="800" dirty="0"/>
          </a:p>
        </p:txBody>
      </p:sp>
      <p:sp>
        <p:nvSpPr>
          <p:cNvPr id="24" name="Text 20"/>
          <p:cNvSpPr/>
          <p:nvPr/>
        </p:nvSpPr>
        <p:spPr>
          <a:xfrm>
            <a:off x="7229475" y="2969791"/>
            <a:ext cx="1514475" cy="20116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 bags/mo</a:t>
            </a:r>
            <a:endParaRPr lang="en-US" sz="1575" dirty="0"/>
          </a:p>
        </p:txBody>
      </p:sp>
      <p:sp>
        <p:nvSpPr>
          <p:cNvPr id="25" name="Text 21"/>
          <p:cNvSpPr/>
          <p:nvPr/>
        </p:nvSpPr>
        <p:spPr>
          <a:xfrm>
            <a:off x="7229475" y="3198391"/>
            <a:ext cx="1514475" cy="1012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97"/>
              </a:lnSpc>
              <a:buNone/>
            </a:pPr>
            <a:r>
              <a:rPr lang="en-US" sz="800" spc="35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CEILING PER BUYER</a:t>
            </a:r>
            <a:endParaRPr lang="en-US" sz="800" dirty="0"/>
          </a:p>
        </p:txBody>
      </p:sp>
      <p:sp>
        <p:nvSpPr>
          <p:cNvPr id="26" name="Text 22"/>
          <p:cNvSpPr/>
          <p:nvPr/>
        </p:nvSpPr>
        <p:spPr>
          <a:xfrm>
            <a:off x="4029075" y="4434260"/>
            <a:ext cx="4714875" cy="394915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Next frontier: India is now piloting land- and crop-based limits — pre-booking fertilizer based on verified need — moving from blanket to targeted subsidy.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FAFAF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0050" y="400050"/>
            <a:ext cx="4714875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CASE STUDY 02 / VIETNAM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00050" y="617934"/>
            <a:ext cx="4824603" cy="273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91"/>
              </a:lnSpc>
              <a:buNone/>
            </a:pPr>
            <a:r>
              <a:rPr lang="en-US" sz="1688" b="1" spc="-25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Less fertilizer, more yield — the precision turn.</a:t>
            </a:r>
            <a:endParaRPr lang="en-US" sz="1688" dirty="0"/>
          </a:p>
        </p:txBody>
      </p:sp>
      <p:sp>
        <p:nvSpPr>
          <p:cNvPr id="5" name="Text 3"/>
          <p:cNvSpPr/>
          <p:nvPr/>
        </p:nvSpPr>
        <p:spPr>
          <a:xfrm>
            <a:off x="400050" y="985056"/>
            <a:ext cx="4714875" cy="679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21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Vietnam has taken a different but equally instructive path. The One Must, Five Reductions technique requires certified seeds while reducing seeding rates, fertilizers, pesticides, water usage, and post-harvest losses. The 1 Million Hectare High-Quality, Low-Emission Rice Program in the Mekong Delta has delivered remarkable results.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00050" y="1733364"/>
            <a:ext cx="4714875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00050" y="1872667"/>
            <a:ext cx="4714875" cy="0"/>
          </a:xfrm>
          <a:prstGeom prst="line">
            <a:avLst/>
          </a:prstGeom>
          <a:noFill/>
          <a:ln w="7144">
            <a:solidFill>
              <a:srgbClr val="D9D7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0050" y="2004826"/>
            <a:ext cx="1765935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40%</a:t>
            </a:r>
            <a:endParaRPr lang="en-US" sz="1575" dirty="0"/>
          </a:p>
        </p:txBody>
      </p:sp>
      <p:sp>
        <p:nvSpPr>
          <p:cNvPr id="9" name="Text 7"/>
          <p:cNvSpPr/>
          <p:nvPr/>
        </p:nvSpPr>
        <p:spPr>
          <a:xfrm>
            <a:off x="400050" y="2247714"/>
            <a:ext cx="11699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23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Cut in chemical N fertilizer (rice straw integration)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603772" y="2004826"/>
            <a:ext cx="1412748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50–65%</a:t>
            </a:r>
            <a:endParaRPr lang="en-US" sz="1575" dirty="0"/>
          </a:p>
        </p:txBody>
      </p:sp>
      <p:sp>
        <p:nvSpPr>
          <p:cNvPr id="11" name="Text 9"/>
          <p:cNvSpPr/>
          <p:nvPr/>
        </p:nvSpPr>
        <p:spPr>
          <a:xfrm>
            <a:off x="1603772" y="2247714"/>
            <a:ext cx="1324589" cy="1536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23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Reduction in seeds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2807494" y="2004826"/>
            <a:ext cx="1765935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31.3%</a:t>
            </a:r>
            <a:endParaRPr lang="en-US" sz="1575" dirty="0"/>
          </a:p>
        </p:txBody>
      </p:sp>
      <p:sp>
        <p:nvSpPr>
          <p:cNvPr id="13" name="Text 11"/>
          <p:cNvSpPr/>
          <p:nvPr/>
        </p:nvSpPr>
        <p:spPr>
          <a:xfrm>
            <a:off x="2807494" y="2247714"/>
            <a:ext cx="1192006" cy="153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600" spc="23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Avg reduction in fertilizer use</a:t>
            </a:r>
            <a:endParaRPr lang="en-US" sz="600" dirty="0"/>
          </a:p>
        </p:txBody>
      </p:sp>
      <p:sp>
        <p:nvSpPr>
          <p:cNvPr id="14" name="Text 12"/>
          <p:cNvSpPr/>
          <p:nvPr/>
        </p:nvSpPr>
        <p:spPr>
          <a:xfrm>
            <a:off x="4011216" y="2004826"/>
            <a:ext cx="1103709" cy="215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en-US" sz="1575" spc="-16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30–70 kg</a:t>
            </a:r>
            <a:endParaRPr lang="en-US" sz="1575" dirty="0"/>
          </a:p>
        </p:txBody>
      </p:sp>
      <p:sp>
        <p:nvSpPr>
          <p:cNvPr id="15" name="Text 13"/>
          <p:cNvSpPr/>
          <p:nvPr/>
        </p:nvSpPr>
        <p:spPr>
          <a:xfrm>
            <a:off x="4011216" y="2247714"/>
            <a:ext cx="116993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788"/>
              </a:lnSpc>
              <a:buNone/>
            </a:pPr>
            <a:r>
              <a:rPr lang="en-US" sz="800" spc="23" kern="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 fertilizer saved per hectare (pilot)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00050" y="4304109"/>
            <a:ext cx="4714875" cy="525066"/>
          </a:xfrm>
          <a:prstGeom prst="rect">
            <a:avLst/>
          </a:prstGeom>
          <a:noFill/>
          <a:ln/>
        </p:spPr>
        <p:txBody>
          <a:bodyPr wrap="square" lIns="0" tIns="100013" rIns="0" bIns="0" rtlCol="0" anchor="t"/>
          <a:lstStyle/>
          <a:p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Pilot models saved 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30–70 kg</a:t>
            </a:r>
            <a:pPr algn="l" indent="0" marL="0">
              <a:lnSpc>
                <a:spcPts val="1097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nitrogen fertilizer per hectare, alongside a 20% reduction in irrigation water. The takeaway for Bangladesh: reducing fertilizer use — through better practices, precise application, and organic alternatives — can improve both farmer economics and environmental sustainability.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486400" y="0"/>
            <a:ext cx="3657600" cy="5143500"/>
          </a:xfrm>
          <a:prstGeom prst="rect">
            <a:avLst/>
          </a:prstGeom>
          <a:solidFill>
            <a:srgbClr val="1A1A1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pic>
        <p:nvPicPr>
          <p:cNvPr id="18" name="Image 0" descr="/tmp/h2p-fit-1790272000343-objs3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0"/>
            <a:ext cx="3657600" cy="5143500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0" y="4797028"/>
            <a:ext cx="3657600" cy="346472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5486400" y="4797028"/>
            <a:ext cx="3657600" cy="346472"/>
          </a:xfrm>
          <a:prstGeom prst="rect">
            <a:avLst/>
          </a:prstGeom>
          <a:noFill/>
          <a:ln/>
        </p:spPr>
        <p:txBody>
          <a:bodyPr wrap="square" lIns="171450" tIns="100013" rIns="171450" bIns="128588" rtlCol="0" anchor="t"/>
          <a:lstStyle/>
          <a:p>
            <a:pPr algn="r" indent="0" marL="0">
              <a:lnSpc>
                <a:spcPts val="928"/>
              </a:lnSpc>
              <a:buNone/>
            </a:pPr>
            <a:r>
              <a:rPr lang="en-US" sz="800" spc="136" kern="0" dirty="0">
                <a:solidFill>
                  <a:srgbClr val="FFFFFF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VIETNAM / MEKONG DELTA RICE PROGRAM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457200"/>
            <a:ext cx="400050" cy="21431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571500" y="1068995"/>
            <a:ext cx="8572500" cy="1527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138"/>
              </a:lnSpc>
              <a:buNone/>
            </a:pPr>
            <a:r>
              <a:rPr lang="en-US" sz="12375" spc="-495" kern="0" dirty="0">
                <a:solidFill>
                  <a:srgbClr val="9A9A9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2375" dirty="0"/>
          </a:p>
        </p:txBody>
      </p:sp>
      <p:sp>
        <p:nvSpPr>
          <p:cNvPr id="4" name="Text 2"/>
          <p:cNvSpPr/>
          <p:nvPr/>
        </p:nvSpPr>
        <p:spPr>
          <a:xfrm>
            <a:off x="571500" y="2740633"/>
            <a:ext cx="8572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800" spc="162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CHAPTER FIVE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571500" y="2969233"/>
            <a:ext cx="7229475" cy="5233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16"/>
              </a:lnSpc>
              <a:buNone/>
            </a:pPr>
            <a:r>
              <a:rPr lang="en-US" sz="3600" b="1" spc="-72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Roadmap to Accountability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571500" y="3639517"/>
            <a:ext cx="5857875" cy="2460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94"/>
              </a:lnSpc>
              <a:buNone/>
            </a:pPr>
            <a:r>
              <a:rPr lang="en-US" sz="1238" i="1" dirty="0">
                <a:solidFill>
                  <a:srgbClr val="6B6B6B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Eight requirements for a fertilizer system that is transparent, accountable, and fair.</a:t>
            </a:r>
            <a:endParaRPr lang="en-US" sz="1238" dirty="0"/>
          </a:p>
        </p:txBody>
      </p:sp>
      <p:sp>
        <p:nvSpPr>
          <p:cNvPr id="7" name="Text 5"/>
          <p:cNvSpPr/>
          <p:nvPr/>
        </p:nvSpPr>
        <p:spPr>
          <a:xfrm>
            <a:off x="6090493" y="4825603"/>
            <a:ext cx="2940713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9A9A9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FERTILIZER MANAGEMENT IN BANGLADESH / 16</a:t>
            </a:r>
            <a:endParaRPr lang="en-US" sz="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2900"/>
            <a:ext cx="8636000" cy="1618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REFORM FRAMEWORK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457200" y="532209"/>
            <a:ext cx="8636000" cy="266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941"/>
              </a:lnSpc>
              <a:buNone/>
            </a:pPr>
            <a:r>
              <a:rPr lang="en-US" sz="1688" spc="-25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Eight requirements for future accountability.</a:t>
            </a:r>
            <a:endParaRPr lang="en-US" sz="1688" dirty="0"/>
          </a:p>
        </p:txBody>
      </p:sp>
      <p:sp>
        <p:nvSpPr>
          <p:cNvPr id="4" name="Text 2"/>
          <p:cNvSpPr/>
          <p:nvPr/>
        </p:nvSpPr>
        <p:spPr>
          <a:xfrm>
            <a:off x="457200" y="892969"/>
            <a:ext cx="82296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57200" y="1057275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457200" y="1064419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788" y="1200150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01</a:t>
            </a:r>
            <a:endParaRPr lang="en-US" sz="1013" dirty="0"/>
          </a:p>
        </p:txBody>
      </p:sp>
      <p:sp>
        <p:nvSpPr>
          <p:cNvPr id="8" name="Text 6"/>
          <p:cNvSpPr/>
          <p:nvPr/>
        </p:nvSpPr>
        <p:spPr>
          <a:xfrm>
            <a:off x="585788" y="1400175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5788" y="1500188"/>
            <a:ext cx="1714500" cy="29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Biometric Authentication at Point of Sale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85788" y="1845766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NID + Krishak Card as authentication key, mirroring India’s Aadhaar-enabled PoS model.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2543175" y="1057275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543175" y="1064419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71763" y="1200150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02</a:t>
            </a:r>
            <a:endParaRPr lang="en-US" sz="1013" dirty="0"/>
          </a:p>
        </p:txBody>
      </p:sp>
      <p:sp>
        <p:nvSpPr>
          <p:cNvPr id="14" name="Text 12"/>
          <p:cNvSpPr/>
          <p:nvPr/>
        </p:nvSpPr>
        <p:spPr>
          <a:xfrm>
            <a:off x="2671763" y="1400175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2671763" y="1500188"/>
            <a:ext cx="1714500" cy="29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Land-Linked Farmer Identification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2671763" y="1845766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Quotas tied to verified land area and crop type using BDS/EDLMS geospatial data — stops wealthy capture.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629150" y="1057275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Shape 16"/>
          <p:cNvSpPr/>
          <p:nvPr/>
        </p:nvSpPr>
        <p:spPr>
          <a:xfrm>
            <a:off x="4629150" y="1064419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7738" y="1200150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03</a:t>
            </a:r>
            <a:endParaRPr lang="en-US" sz="1013" dirty="0"/>
          </a:p>
        </p:txBody>
      </p:sp>
      <p:sp>
        <p:nvSpPr>
          <p:cNvPr id="20" name="Text 18"/>
          <p:cNvSpPr/>
          <p:nvPr/>
        </p:nvSpPr>
        <p:spPr>
          <a:xfrm>
            <a:off x="4757738" y="1400175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4757738" y="1500188"/>
            <a:ext cx="1714500" cy="29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Real-Time Tracking &amp; Transparency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757738" y="1845766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Every transaction — import to farmer purchase — recorded centrally. Blockchain option for immutable audit trail.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6715125" y="1057275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6715125" y="1064419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843713" y="1200150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04</a:t>
            </a:r>
            <a:endParaRPr lang="en-US" sz="1013" dirty="0"/>
          </a:p>
        </p:txBody>
      </p:sp>
      <p:sp>
        <p:nvSpPr>
          <p:cNvPr id="26" name="Text 24"/>
          <p:cNvSpPr/>
          <p:nvPr/>
        </p:nvSpPr>
        <p:spPr>
          <a:xfrm>
            <a:off x="6843713" y="1400175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843713" y="1500188"/>
            <a:ext cx="1817370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Dealer Accountability &amp; Penalties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843713" y="1708696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Swift penalties for dealers who fail to lift stock, divert to black market, or sell above official prices.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457200" y="3014663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57200" y="3021806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85788" y="3157538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05</a:t>
            </a:r>
            <a:endParaRPr lang="en-US" sz="1013" dirty="0"/>
          </a:p>
        </p:txBody>
      </p:sp>
      <p:sp>
        <p:nvSpPr>
          <p:cNvPr id="32" name="Text 30"/>
          <p:cNvSpPr/>
          <p:nvPr/>
        </p:nvSpPr>
        <p:spPr>
          <a:xfrm>
            <a:off x="585788" y="3357563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85788" y="3457575"/>
            <a:ext cx="1714500" cy="29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Crop Declaration + Satellite Verification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85788" y="3803154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Pre-season crop declaration via mobile app or Union Digital Centers, cross-verified with NDVI satellite imagery.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2543175" y="3014663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6" name="Shape 34"/>
          <p:cNvSpPr/>
          <p:nvPr/>
        </p:nvSpPr>
        <p:spPr>
          <a:xfrm>
            <a:off x="2543175" y="3021806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671763" y="3157538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06</a:t>
            </a:r>
            <a:endParaRPr lang="en-US" sz="1013" dirty="0"/>
          </a:p>
        </p:txBody>
      </p:sp>
      <p:sp>
        <p:nvSpPr>
          <p:cNvPr id="38" name="Text 36"/>
          <p:cNvSpPr/>
          <p:nvPr/>
        </p:nvSpPr>
        <p:spPr>
          <a:xfrm>
            <a:off x="2671763" y="3357563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9" name="Text 37"/>
          <p:cNvSpPr/>
          <p:nvPr/>
        </p:nvSpPr>
        <p:spPr>
          <a:xfrm>
            <a:off x="2671763" y="3457575"/>
            <a:ext cx="1714500" cy="2960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Phased Transition from Blanket Subsidies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2671763" y="3803154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Expand soil testing, strengthen advisory services, roll out e-vouchers to reach poor and climate-vulnerable farmers.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629150" y="3014663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29150" y="3021806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757738" y="3157538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07</a:t>
            </a:r>
            <a:endParaRPr lang="en-US" sz="1013" dirty="0"/>
          </a:p>
        </p:txBody>
      </p:sp>
      <p:sp>
        <p:nvSpPr>
          <p:cNvPr id="44" name="Text 42"/>
          <p:cNvSpPr/>
          <p:nvPr/>
        </p:nvSpPr>
        <p:spPr>
          <a:xfrm>
            <a:off x="4757738" y="3357563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5" name="Text 43"/>
          <p:cNvSpPr/>
          <p:nvPr/>
        </p:nvSpPr>
        <p:spPr>
          <a:xfrm>
            <a:off x="4757738" y="3457575"/>
            <a:ext cx="1817370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Local Server Architecture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4757738" y="3666083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Hybrid edge-cloud with union/upazila-level offline servers, syncing when connectivity returns — no farmer excluded.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715125" y="3014663"/>
            <a:ext cx="1971675" cy="1843088"/>
          </a:xfrm>
          <a:prstGeom prst="rect">
            <a:avLst/>
          </a:prstGeom>
          <a:solidFill>
            <a:srgbClr val="F1F0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8" name="Shape 46"/>
          <p:cNvSpPr/>
          <p:nvPr/>
        </p:nvSpPr>
        <p:spPr>
          <a:xfrm>
            <a:off x="6715125" y="3021806"/>
            <a:ext cx="1971675" cy="0"/>
          </a:xfrm>
          <a:prstGeom prst="line">
            <a:avLst/>
          </a:prstGeom>
          <a:noFill/>
          <a:ln w="14288">
            <a:solidFill>
              <a:srgbClr val="C8102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43713" y="3157538"/>
            <a:ext cx="1714500" cy="138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013"/>
              </a:lnSpc>
              <a:buNone/>
            </a:pPr>
            <a:r>
              <a:rPr lang="en-US" sz="1013" spc="-10" kern="0" dirty="0">
                <a:solidFill>
                  <a:srgbClr val="C8102E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08</a:t>
            </a:r>
            <a:endParaRPr lang="en-US" sz="1013" dirty="0"/>
          </a:p>
        </p:txBody>
      </p:sp>
      <p:sp>
        <p:nvSpPr>
          <p:cNvPr id="50" name="Text 48"/>
          <p:cNvSpPr/>
          <p:nvPr/>
        </p:nvSpPr>
        <p:spPr>
          <a:xfrm>
            <a:off x="6843713" y="3357563"/>
            <a:ext cx="1714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1" name="Text 49"/>
          <p:cNvSpPr/>
          <p:nvPr/>
        </p:nvSpPr>
        <p:spPr>
          <a:xfrm>
            <a:off x="6843713" y="3457575"/>
            <a:ext cx="1817370" cy="148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80"/>
              </a:lnSpc>
              <a:buNone/>
            </a:pPr>
            <a:r>
              <a:rPr lang="en-US" sz="900" b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Independent Oversight Body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6843713" y="3666083"/>
            <a:ext cx="1714500" cy="4770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9"/>
              </a:lnSpc>
              <a:buNone/>
            </a:pPr>
            <a:r>
              <a:rPr lang="en-US" sz="800" dirty="0">
                <a:solidFill>
                  <a:srgbClr val="4A4A4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Dedicated oversight with farmer, civil society, and expert representation — publishing regular public reports.</a:t>
            </a:r>
            <a:endParaRPr lang="en-US" sz="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71500" y="371475"/>
            <a:ext cx="8572500" cy="1645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49" kern="0" dirty="0">
                <a:solidFill>
                  <a:srgbClr val="C8102E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CONCLUSION</a:t>
            </a:r>
            <a:endParaRPr lang="en-US" sz="800" dirty="0"/>
          </a:p>
        </p:txBody>
      </p:sp>
      <p:sp>
        <p:nvSpPr>
          <p:cNvPr id="3" name="Text 1"/>
          <p:cNvSpPr/>
          <p:nvPr/>
        </p:nvSpPr>
        <p:spPr>
          <a:xfrm>
            <a:off x="571500" y="575072"/>
            <a:ext cx="7858125" cy="380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72"/>
              </a:lnSpc>
              <a:buNone/>
            </a:pPr>
            <a:r>
              <a:rPr lang="en-US" sz="2475" b="1" spc="-49" kern="0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A window of opportunity — if there is the will to use it.</a:t>
            </a:r>
            <a:endParaRPr lang="en-US" sz="2475" dirty="0"/>
          </a:p>
        </p:txBody>
      </p:sp>
      <p:sp>
        <p:nvSpPr>
          <p:cNvPr id="4" name="Text 2"/>
          <p:cNvSpPr/>
          <p:nvPr/>
        </p:nvSpPr>
        <p:spPr>
          <a:xfrm>
            <a:off x="571500" y="1055601"/>
            <a:ext cx="8001000" cy="7144"/>
          </a:xfrm>
          <a:prstGeom prst="rect">
            <a:avLst/>
          </a:prstGeom>
          <a:solidFill>
            <a:srgbClr val="D9D7D0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8675" y="1277057"/>
            <a:ext cx="6768257" cy="726439"/>
          </a:xfrm>
          <a:prstGeom prst="rect">
            <a:avLst/>
          </a:prstGeom>
          <a:noFill/>
          <a:ln/>
        </p:spPr>
        <p:txBody>
          <a:bodyPr wrap="square" lIns="257175" tIns="0" rIns="0" bIns="0" rtlCol="0" anchor="t"/>
          <a:lstStyle/>
          <a:p>
            <a:pPr algn="l" indent="0" marL="0">
              <a:lnSpc>
                <a:spcPts val="1917"/>
              </a:lnSpc>
              <a:buNone/>
            </a:pPr>
            <a:r>
              <a:rPr lang="en-US" sz="1350" i="1" dirty="0">
                <a:solidFill>
                  <a:srgbClr val="1A1A1A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Bangladesh has the resources and the examples. The question is whether it has the resolve to build a fertilizer management system that is transparent, accountable, and fair — one that ensures every farmer gets their rightful allocation, at the right price, at the right time.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71500" y="1191332"/>
            <a:ext cx="411480" cy="5554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4050" b="1" i="1" dirty="0">
                <a:solidFill>
                  <a:srgbClr val="C810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“</a:t>
            </a:r>
            <a:endParaRPr lang="en-US" sz="4050" dirty="0"/>
          </a:p>
        </p:txBody>
      </p:sp>
      <p:sp>
        <p:nvSpPr>
          <p:cNvPr id="7" name="Text 5"/>
          <p:cNvSpPr/>
          <p:nvPr/>
        </p:nvSpPr>
        <p:spPr>
          <a:xfrm>
            <a:off x="571500" y="2178844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71500" y="2264569"/>
            <a:ext cx="327216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STAKES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571500" y="2439591"/>
            <a:ext cx="2495513" cy="6799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Food security, farmer livelihoods, and fiscal stability are all on the line. With 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Liberation Sans Narrow" pitchFamily="34" charset="0"/>
                <a:ea typeface="Liberation Sans Narrow" pitchFamily="34" charset="-122"/>
                <a:cs typeface="Liberation Sans Narrow" pitchFamily="34" charset="-120"/>
              </a:rPr>
              <a:t>70%+</a:t>
            </a:r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 of demand met by imports, any procurement disruption turns localised shortages into a broader supply crisis.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324188" y="2178844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3324188" y="2264569"/>
            <a:ext cx="3272163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PIECES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324188" y="2439591"/>
            <a:ext cx="2495513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Digital land mapping, the Krishak Card, a new 2026 dealer policy, and proven models from India and Vietnam. The reform toolkit is already assembled.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6076876" y="2178844"/>
            <a:ext cx="285750" cy="14288"/>
          </a:xfrm>
          <a:prstGeom prst="rect">
            <a:avLst/>
          </a:prstGeom>
          <a:solidFill>
            <a:srgbClr val="C8102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076876" y="2264569"/>
            <a:ext cx="3067124" cy="14759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normAutofit/>
          </a:bodyPr>
          <a:lstStyle/>
          <a:p>
            <a:pPr algn="l" indent="0" marL="0">
              <a:lnSpc>
                <a:spcPts val="928"/>
              </a:lnSpc>
              <a:buNone/>
            </a:pPr>
            <a:r>
              <a:rPr lang="en-US" sz="800" spc="111" kern="0" dirty="0">
                <a:solidFill>
                  <a:srgbClr val="6B6B6B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THE ASK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076876" y="2439591"/>
            <a:ext cx="2495624" cy="5099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33"/>
              </a:lnSpc>
              <a:buNone/>
            </a:pPr>
            <a:r>
              <a:rPr lang="en-US" sz="800" dirty="0">
                <a:solidFill>
                  <a:srgbClr val="1A1A1A"/>
                </a:solidFill>
                <a:latin typeface="Carlito" pitchFamily="34" charset="0"/>
                <a:ea typeface="Carlito" pitchFamily="34" charset="-122"/>
                <a:cs typeface="Carlito" pitchFamily="34" charset="-120"/>
              </a:rPr>
              <a:t>Political will, institutional capacity, and a clear roadmap. Independent oversight, biometric authentication, and land-linked quotas — phased, transparent, accountable.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251460" y="4636294"/>
            <a:ext cx="8636000" cy="2083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519"/>
              </a:lnSpc>
              <a:buNone/>
            </a:pPr>
            <a:r>
              <a:rPr lang="en-US" sz="1013" i="1" dirty="0">
                <a:solidFill>
                  <a:srgbClr val="C8102E"/>
                </a:solidFill>
                <a:latin typeface="Tinos" pitchFamily="34" charset="0"/>
                <a:ea typeface="Tinos" pitchFamily="34" charset="-122"/>
                <a:cs typeface="Tinos" pitchFamily="34" charset="-120"/>
              </a:rPr>
              <a:t>The alternative is continued crisis.</a:t>
            </a:r>
            <a:endParaRPr lang="en-US" sz="101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2026-09-24T17:46:41Z</dcterms:created>
  <dcterms:modified xsi:type="dcterms:W3CDTF">2026-09-24T17:46:41Z</dcterms:modified>
</cp:coreProperties>
</file>